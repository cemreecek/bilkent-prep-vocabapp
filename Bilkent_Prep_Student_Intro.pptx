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00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EA619"/>
                </a:solidFill>
              </a:defRPr>
            </a:pPr>
            <a:r>
              <a:t>BILKENT PREP VOCABULARY PLATFORM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</a:defRPr>
            </a:pPr>
            <a:r>
              <a:t>Master Your Vocab, Conquer Your Prep Year!</a:t>
            </a:r>
          </a:p>
          <a:p>
            <a:pPr>
              <a:defRPr sz="1600">
                <a:solidFill>
                  <a:srgbClr val="D5E3FF"/>
                </a:solidFill>
              </a:defRPr>
            </a:pPr>
            <a:r>
              <a:t>An error-driven, curriculum-aligned platform engineered specifically for Bilkent Prep students.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55300"/>
                </a:solidFill>
              </a:defRPr>
            </a:pPr>
            <a:r>
              <a:t>🔥 3-Day Streak System</a:t>
            </a:r>
          </a:p>
          <a:p>
            <a:pPr>
              <a:defRPr sz="1200">
                <a:solidFill>
                  <a:srgbClr val="43474F"/>
                </a:solidFill>
              </a:defRPr>
            </a:pPr>
            <a:r>
              <a:t>Build automatic daily habits with 5-10 minute micro-learning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FDAD6"/>
          </a:solidFill>
          <a:ln w="1270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93000A"/>
                </a:solidFill>
              </a:defRPr>
            </a:pPr>
            <a:r>
              <a:t>🎯 Clear Error Debt</a:t>
            </a:r>
          </a:p>
          <a:p>
            <a:pPr>
              <a:defRPr sz="1200">
                <a:solidFill>
                  <a:srgbClr val="93000A"/>
                </a:solidFill>
              </a:defRPr>
            </a:pPr>
            <a:r>
              <a:t>Turn every mistake into verified mastery before official prep exams.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1E40"/>
                </a:solidFill>
              </a:defRPr>
            </a:pPr>
            <a:r>
              <a:t>📱 Mobile-First PWA</a:t>
            </a:r>
          </a:p>
          <a:p>
            <a:pPr>
              <a:defRPr sz="1200">
                <a:solidFill>
                  <a:srgbClr val="43474F"/>
                </a:solidFill>
              </a:defRPr>
            </a:pPr>
            <a:r>
              <a:t>Keep the app shortcut on your phone's home screen for practice anywhere.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5F94"/>
                </a:solidFill>
              </a:defRPr>
            </a:pPr>
            <a:r>
              <a:t>BILKENT PREP VOCAB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E40"/>
                </a:solidFill>
              </a:defRPr>
            </a:pPr>
            <a:r>
              <a:t>Why I Built This App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BA1A1A"/>
                </a:solidFill>
              </a:defRPr>
            </a:pPr>
            <a:r>
              <a:t>❌ Traditional Vocab Cramming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Generic Word Lists: </a:t>
            </a:r>
            <a:r>
              <a:rPr sz="1200">
                <a:solidFill>
                  <a:srgbClr val="43474F"/>
                </a:solidFill>
              </a:rPr>
              <a:t>Popular apps use generic vocabulary that doesn't align with Bilkent Prep exam requirements.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Passive Memorization: </a:t>
            </a:r>
            <a:r>
              <a:rPr sz="1200">
                <a:solidFill>
                  <a:srgbClr val="43474F"/>
                </a:solidFill>
              </a:rPr>
              <a:t>Flipping cards without context fails when writing essays or solving exam cloze tests.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Forgotten Mistakes: </a:t>
            </a:r>
            <a:r>
              <a:rPr sz="1200">
                <a:solidFill>
                  <a:srgbClr val="43474F"/>
                </a:solidFill>
              </a:rPr>
              <a:t>In regular quizzes, once you make a mistake, it gets graded and forgotten—leaving hidden gaps.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Last-Minute Stress: </a:t>
            </a:r>
            <a:r>
              <a:rPr sz="1200">
                <a:solidFill>
                  <a:srgbClr val="43474F"/>
                </a:solidFill>
              </a:rPr>
              <a:t>Cramming 100 words the night before an exam results in rapid memory decay within 48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1E40"/>
                </a:solidFill>
              </a:defRPr>
            </a:pPr>
            <a:r>
              <a:t>✨ The Bilkent App Advantage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100% Curriculum Aligned: </a:t>
            </a:r>
            <a:r>
              <a:rPr sz="1200">
                <a:solidFill>
                  <a:srgbClr val="43474F"/>
                </a:solidFill>
              </a:rPr>
              <a:t>Exact target words organized by Bilkent Prep levels (Elementary, Inter, Pre-Fac, Upper, PIN).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Active Recall &amp; Context: </a:t>
            </a:r>
            <a:r>
              <a:rPr sz="1200">
                <a:solidFill>
                  <a:srgbClr val="43474F"/>
                </a:solidFill>
              </a:rPr>
              <a:t>Cloze sentences, collocations, and paraphrasing test true production skills.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Error-Driven Mastery: </a:t>
            </a:r>
            <a:r>
              <a:rPr sz="1200">
                <a:solidFill>
                  <a:srgbClr val="43474F"/>
                </a:solidFill>
              </a:rPr>
              <a:t>Mistakes enter your Error Debt queue and keep repeating until proven mastered.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Smart Spaced Repetition: </a:t>
            </a:r>
            <a:r>
              <a:rPr sz="1200">
                <a:solidFill>
                  <a:srgbClr val="43474F"/>
                </a:solidFill>
              </a:rPr>
              <a:t>Automated SM-2 algorithm reviews words right before your brain forgets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5F94"/>
                </a:solidFill>
              </a:defRPr>
            </a:pPr>
            <a:r>
              <a:t>BILKENT PREP VOCAB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E40"/>
                </a:solidFill>
              </a:defRPr>
            </a:pPr>
            <a:r>
              <a:t>How This Builds a Powerful Studying Habit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1E40"/>
                </a:solidFill>
              </a:defRPr>
            </a:pPr>
            <a:r>
              <a:t>🔥 1. Daily Streak System</a:t>
            </a:r>
          </a:p>
          <a:p>
            <a:pPr>
              <a:spcAft>
                <a:spcPts val="1400"/>
              </a:spcAft>
              <a:defRPr sz="1200" b="1">
                <a:solidFill>
                  <a:srgbClr val="855300"/>
                </a:solidFill>
              </a:defRPr>
            </a:pPr>
            <a:r>
              <a:t>Consistency Beats Cramming</a:t>
            </a:r>
          </a:p>
          <a:p>
            <a:pPr>
              <a:defRPr sz="1300">
                <a:solidFill>
                  <a:srgbClr val="43474F"/>
                </a:solidFill>
              </a:defRPr>
            </a:pPr>
            <a:r>
              <a:t>Practicing 5-10 minutes daily builds neural connections faster than marathon cramming. The app tracks your streak to keep you in the top 10% of students!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1E40"/>
                </a:solidFill>
              </a:defRPr>
            </a:pPr>
            <a:r>
              <a:t>🧠 2. Spaced Repetition (SM-2)</a:t>
            </a:r>
          </a:p>
          <a:p>
            <a:pPr>
              <a:spcAft>
                <a:spcPts val="1400"/>
              </a:spcAft>
              <a:defRPr sz="1200" b="1">
                <a:solidFill>
                  <a:srgbClr val="855300"/>
                </a:solidFill>
              </a:defRPr>
            </a:pPr>
            <a:r>
              <a:t>Scientific Memory Retention</a:t>
            </a:r>
          </a:p>
          <a:p>
            <a:pPr>
              <a:defRPr sz="1300">
                <a:solidFill>
                  <a:srgbClr val="43474F"/>
                </a:solidFill>
              </a:defRPr>
            </a:pPr>
            <a:r>
              <a:t>Instead of reviewing words randomly, our algorithm schedules reviews at optimal intervals (1 day, 3 days, 7 days) right before memory decay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1E40"/>
                </a:solidFill>
              </a:defRPr>
            </a:pPr>
            <a:r>
              <a:t>📝 3. Personal Vocab Journal</a:t>
            </a:r>
          </a:p>
          <a:p>
            <a:pPr>
              <a:spcAft>
                <a:spcPts val="1400"/>
              </a:spcAft>
              <a:defRPr sz="1200" b="1">
                <a:solidFill>
                  <a:srgbClr val="855300"/>
                </a:solidFill>
              </a:defRPr>
            </a:pPr>
            <a:r>
              <a:t>Ownership &amp; Context</a:t>
            </a:r>
          </a:p>
          <a:p>
            <a:pPr>
              <a:defRPr sz="1300">
                <a:solidFill>
                  <a:srgbClr val="43474F"/>
                </a:solidFill>
              </a:defRPr>
            </a:pPr>
            <a:r>
              <a:t>Add words you encounter in class or books into your personal journal. Write your own definitions, collocations, and sentences to anchor word meanings deeply.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5F94"/>
                </a:solidFill>
              </a:defRPr>
            </a:pPr>
            <a:r>
              <a:t>BILKENT PREP VOCAB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E40"/>
                </a:solidFill>
              </a:defRPr>
            </a:pPr>
            <a:r>
              <a:t>The 'Error Debt' Rationale: Turn Weaknesses Into Strengths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754880"/>
          </a:xfrm>
          <a:prstGeom prst="roundRect">
            <a:avLst/>
          </a:prstGeom>
          <a:solidFill>
            <a:srgbClr val="FFDAD6"/>
          </a:solidFill>
          <a:ln w="1270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93000A"/>
                </a:solidFill>
              </a:defRPr>
            </a:pPr>
            <a:r>
              <a:t>🎯 What is Error Debt?</a:t>
            </a:r>
          </a:p>
          <a:p>
            <a:pPr>
              <a:spcAft>
                <a:spcPts val="1400"/>
              </a:spcAft>
              <a:defRPr sz="1300">
                <a:solidFill>
                  <a:srgbClr val="93000A"/>
                </a:solidFill>
              </a:defRPr>
            </a:pPr>
            <a:r>
              <a:t>When you answer a question incorrectly, it isn't just marked wrong—it becomes 'Error Debt' (an Error Score added to your account).</a:t>
            </a:r>
          </a:p>
          <a:p>
            <a:pPr>
              <a:spcAft>
                <a:spcPts val="800"/>
              </a:spcAft>
              <a:defRPr sz="1500" b="1">
                <a:solidFill>
                  <a:srgbClr val="001E40"/>
                </a:solidFill>
              </a:defRPr>
            </a:pPr>
            <a:r>
              <a:t>Why is this better than traditional quizzes?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1C1F"/>
                </a:solidFill>
              </a:rPr>
              <a:t>• No Loose Ends: </a:t>
            </a:r>
            <a:r>
              <a:rPr sz="1200">
                <a:solidFill>
                  <a:srgbClr val="43474F"/>
                </a:solidFill>
              </a:rPr>
              <a:t>Mistakes are never swept under the rug. They accumulate in your Error Queue.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1C1F"/>
                </a:solidFill>
              </a:rPr>
              <a:t>• Required Repayment: </a:t>
            </a:r>
            <a:r>
              <a:rPr sz="1200">
                <a:solidFill>
                  <a:srgbClr val="43474F"/>
                </a:solidFill>
              </a:rPr>
              <a:t>The ONLY way to lower your Error Debt is by correctly answering those missed words in Review Mode.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A1C1F"/>
                </a:solidFill>
              </a:rPr>
              <a:t>• Zero Error Debt = Exam Ready: </a:t>
            </a:r>
            <a:r>
              <a:rPr sz="1200">
                <a:solidFill>
                  <a:srgbClr val="43474F"/>
                </a:solidFill>
              </a:rPr>
              <a:t>When your Error Debt reaches 0, you have verified mastery over 100% of your weak words!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1E40"/>
                </a:solidFill>
              </a:defRPr>
            </a:pPr>
            <a:r>
              <a:t>1. Practice Session</a:t>
            </a:r>
          </a:p>
          <a:p>
            <a:pPr>
              <a:defRPr sz="1100">
                <a:solidFill>
                  <a:srgbClr val="43474F"/>
                </a:solidFill>
              </a:defRPr>
            </a:pPr>
            <a:r>
              <a:t>Answer questions across cloze &amp; word bank 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834640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926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BA1A1A"/>
                </a:solidFill>
              </a:defRPr>
            </a:pPr>
            <a:r>
              <a:t>2. Make a Mistake</a:t>
            </a:r>
          </a:p>
          <a:p>
            <a:pPr>
              <a:defRPr sz="1100">
                <a:solidFill>
                  <a:srgbClr val="43474F"/>
                </a:solidFill>
              </a:defRPr>
            </a:pPr>
            <a:r>
              <a:t>Word moves to your Error Queue (+1 Error Debt).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023360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1148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55300"/>
                </a:solidFill>
              </a:defRPr>
            </a:pPr>
            <a:r>
              <a:t>3. Enter Review Mode</a:t>
            </a:r>
          </a:p>
          <a:p>
            <a:pPr>
              <a:defRPr sz="1100">
                <a:solidFill>
                  <a:srgbClr val="43474F"/>
                </a:solidFill>
              </a:defRPr>
            </a:pPr>
            <a:r>
              <a:t>App re-tests your specific missed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5212080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3035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4. Clear Debt!</a:t>
            </a:r>
          </a:p>
          <a:p>
            <a:pPr>
              <a:defRPr sz="1100">
                <a:solidFill>
                  <a:srgbClr val="43474F"/>
                </a:solidFill>
              </a:defRPr>
            </a:pPr>
            <a:r>
              <a:t>Correct answers clear debt and prove true mastery.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5F94"/>
                </a:solidFill>
              </a:defRPr>
            </a:pPr>
            <a:r>
              <a:t>BILKENT PREP VOCAB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E40"/>
                </a:solidFill>
              </a:defRPr>
            </a:pPr>
            <a:r>
              <a:t>Tracking Your Performance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1E40"/>
                </a:solidFill>
              </a:defRPr>
            </a:pPr>
            <a:r>
              <a:t>📊 Your Student Dashboard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Streak Counter: </a:t>
            </a:r>
            <a:r>
              <a:rPr sz="1200">
                <a:solidFill>
                  <a:srgbClr val="43474F"/>
                </a:solidFill>
              </a:rPr>
              <a:t>See your active consecutive study days and keep your streak fire burning.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Error Debt Meter: </a:t>
            </a:r>
            <a:r>
              <a:rPr sz="1200">
                <a:solidFill>
                  <a:srgbClr val="43474F"/>
                </a:solidFill>
              </a:rPr>
              <a:t>Watch your error balance drop as you complete dedicated review sessions.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Words Mastered: </a:t>
            </a:r>
            <a:r>
              <a:rPr sz="1200">
                <a:solidFill>
                  <a:srgbClr val="43474F"/>
                </a:solidFill>
              </a:rPr>
              <a:t>Track total vocabulary items permanently stored in long-term memory.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Level Lock Progress: </a:t>
            </a:r>
            <a:r>
              <a:rPr sz="1200">
                <a:solidFill>
                  <a:srgbClr val="43474F"/>
                </a:solidFill>
              </a:rPr>
              <a:t>Unlock higher prep levels (Elementary → Inter → Pre-Fac → Upper → PIN).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1E40"/>
                </a:solidFill>
              </a:defRPr>
            </a:pPr>
            <a:r>
              <a:t>👩‍🏫 Instructor Insights &amp; Support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Real-Time Class Insights: </a:t>
            </a:r>
            <a:r>
              <a:rPr sz="1200">
                <a:solidFill>
                  <a:srgbClr val="43474F"/>
                </a:solidFill>
              </a:rPr>
              <a:t>Instructors see class-wide average streaks and engagement trends.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Identify Difficult Words: </a:t>
            </a:r>
            <a:r>
              <a:rPr sz="1200">
                <a:solidFill>
                  <a:srgbClr val="43474F"/>
                </a:solidFill>
              </a:rPr>
              <a:t>We see which vocabulary words cause the highest Error Debt across sections.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Targeted In-Class Review: </a:t>
            </a:r>
            <a:r>
              <a:rPr sz="1200">
                <a:solidFill>
                  <a:srgbClr val="43474F"/>
                </a:solidFill>
              </a:rPr>
              <a:t>We adapt classroom lectures to focus on the exact words students struggle with.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1C1F"/>
                </a:solidFill>
              </a:rPr>
              <a:t>• Fair &amp; Transparent Tracking: </a:t>
            </a:r>
            <a:r>
              <a:rPr sz="1200">
                <a:solidFill>
                  <a:srgbClr val="43474F"/>
                </a:solidFill>
              </a:rPr>
              <a:t>Your dedicated effort and study time are directly recognized.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5F94"/>
                </a:solidFill>
              </a:defRPr>
            </a:pPr>
            <a:r>
              <a:t>BILKENT PREP VOCAB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E40"/>
                </a:solidFill>
              </a:defRPr>
            </a:pPr>
            <a:r>
              <a:t>Signing In &amp; Mobile App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01E40"/>
                </a:solidFill>
              </a:defRPr>
            </a:pPr>
            <a:r>
              <a:t>🔐 Step 1: Sign In With Bilkent Mail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1C1F"/>
                </a:solidFill>
              </a:rPr>
              <a:t>1. Official Student Email: </a:t>
            </a:r>
            <a:r>
              <a:rPr sz="1200">
                <a:solidFill>
                  <a:srgbClr val="43474F"/>
                </a:solidFill>
              </a:rPr>
              <a:t>You MUST sign in using your official institutional email address: @ug.bilkent.edu.tr.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1C1F"/>
                </a:solidFill>
              </a:rPr>
              <a:t>2. Automatic Level Matching: </a:t>
            </a:r>
            <a:r>
              <a:rPr sz="1200">
                <a:solidFill>
                  <a:srgbClr val="43474F"/>
                </a:solidFill>
              </a:rPr>
              <a:t>Signing in instantly links your profile to your assigned Bilkent Prep classroom section.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A1C1F"/>
                </a:solidFill>
              </a:rPr>
              <a:t>3. Seamless Authentication: </a:t>
            </a:r>
            <a:r>
              <a:rPr sz="1200">
                <a:solidFill>
                  <a:srgbClr val="43474F"/>
                </a:solidFill>
              </a:rPr>
              <a:t>No complex passwords needed—secure single click authentication.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01E40"/>
                </a:solidFill>
              </a:defRPr>
            </a:pPr>
            <a:r>
              <a:t>📱 Step 2: Add to Phone Home Screen</a:t>
            </a:r>
          </a:p>
          <a:p>
            <a:pPr>
              <a:defRPr b="1" sz="1300">
                <a:solidFill>
                  <a:srgbClr val="3A5F94"/>
                </a:solidFill>
              </a:defRPr>
            </a:pPr>
            <a:r>
              <a:t>🍎 iPhone / iOS (Safari):</a:t>
            </a:r>
          </a:p>
          <a:p>
            <a:pPr>
              <a:spcAft>
                <a:spcPts val="1200"/>
              </a:spcAft>
              <a:defRPr sz="1200">
                <a:solidFill>
                  <a:srgbClr val="43474F"/>
                </a:solidFill>
              </a:defRPr>
            </a:pPr>
            <a:r>
              <a:t>Open app link in Safari ➔ Tap 'Share' icon (bottom bar) ➔ Scroll &amp; tap 'Add to Home Screen'.</a:t>
            </a:r>
          </a:p>
          <a:p>
            <a:pPr>
              <a:defRPr b="1" sz="1300">
                <a:solidFill>
                  <a:srgbClr val="3A5F94"/>
                </a:solidFill>
              </a:defRPr>
            </a:pPr>
            <a:r>
              <a:t>🤖 Android (Chrome):</a:t>
            </a:r>
          </a:p>
          <a:p>
            <a:pPr>
              <a:spcAft>
                <a:spcPts val="1200"/>
              </a:spcAft>
              <a:defRPr sz="1200">
                <a:solidFill>
                  <a:srgbClr val="43474F"/>
                </a:solidFill>
              </a:defRPr>
            </a:pPr>
            <a:r>
              <a:t>Open app link in Chrome ➔ Tap 3 dots (top right) ➔ Tap 'Add to Home screen' or 'Install App'.</a:t>
            </a:r>
          </a:p>
          <a:p>
            <a:pPr>
              <a:defRPr b="1" sz="1200">
                <a:solidFill>
                  <a:srgbClr val="855300"/>
                </a:solidFill>
              </a:defRPr>
            </a:pPr>
            <a:r>
              <a:t>💡 Pro Tip:</a:t>
            </a:r>
          </a:p>
          <a:p>
            <a:pPr>
              <a:defRPr sz="1200">
                <a:solidFill>
                  <a:srgbClr val="1A1C1F"/>
                </a:solidFill>
              </a:defRPr>
            </a:pPr>
            <a:r>
              <a:t>Place the app icon directly on your phone's main dock next to your daily social apps so you never miss a day!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754880"/>
          </a:xfrm>
          <a:prstGeom prst="roundRect">
            <a:avLst/>
          </a:prstGeom>
          <a:solidFill>
            <a:srgbClr val="00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500" b="1">
                <a:solidFill>
                  <a:srgbClr val="FEA619"/>
                </a:solidFill>
              </a:defRPr>
            </a:pPr>
            <a:r>
              <a:t>READY TO CONQUER PREP VOCABULARY?</a:t>
            </a:r>
          </a:p>
          <a:p>
            <a:pPr algn="ctr">
              <a:spcAft>
                <a:spcPts val="2500"/>
              </a:spcAft>
              <a:defRPr sz="3200" b="1">
                <a:solidFill>
                  <a:srgbClr val="FFFFFF"/>
                </a:solidFill>
              </a:defRPr>
            </a:pPr>
            <a:r>
              <a:t>Your Day 1 Challenge Starts Now!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D5E3FF"/>
                </a:solidFill>
              </a:defRPr>
            </a:pPr>
            <a:r>
              <a:t>1. Open the app link on your phone right now.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D5E3FF"/>
                </a:solidFill>
              </a:defRPr>
            </a:pPr>
            <a:r>
              <a:t>2. Sign in with your @ug.bilkent.edu.tr email.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D5E3FF"/>
                </a:solidFill>
              </a:defRPr>
            </a:pPr>
            <a:r>
              <a:t>3. Add the shortcut to your Home Screen.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D5E3FF"/>
                </a:solidFill>
              </a:defRPr>
            </a:pPr>
            <a:r>
              <a:t>4. Complete your first 5-minute set &amp; start your Day 1 Streak!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